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</p:sldMasterIdLst>
  <p:notesMasterIdLst>
    <p:notesMasterId r:id="rId12"/>
  </p:notesMasterIdLst>
  <p:handoutMasterIdLst>
    <p:handoutMasterId r:id="rId13"/>
  </p:handoutMasterIdLst>
  <p:sldIdLst>
    <p:sldId id="2147481784" r:id="rId5"/>
    <p:sldId id="2147468682" r:id="rId6"/>
    <p:sldId id="2147481831" r:id="rId7"/>
    <p:sldId id="2147481835" r:id="rId8"/>
    <p:sldId id="2147481832" r:id="rId9"/>
    <p:sldId id="2147481833" r:id="rId10"/>
    <p:sldId id="2147481834" r:id="rId11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1784"/>
            <p14:sldId id="2147468682"/>
            <p14:sldId id="2147481831"/>
            <p14:sldId id="2147481835"/>
            <p14:sldId id="2147481832"/>
            <p14:sldId id="2147481833"/>
            <p14:sldId id="214748183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  <a:srgbClr val="FF9966"/>
    <a:srgbClr val="F2F2F2"/>
    <a:srgbClr val="F2C80F"/>
    <a:srgbClr val="6C0000"/>
    <a:srgbClr val="002060"/>
    <a:srgbClr val="FFCCCC"/>
    <a:srgbClr val="CCCCFF"/>
    <a:srgbClr val="9999FF"/>
    <a:srgbClr val="CDAA3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 autoAdjust="0"/>
    <p:restoredTop sz="95357" autoAdjust="0"/>
  </p:normalViewPr>
  <p:slideViewPr>
    <p:cSldViewPr snapToGrid="0">
      <p:cViewPr varScale="1">
        <p:scale>
          <a:sx n="82" d="100"/>
          <a:sy n="82" d="100"/>
        </p:scale>
        <p:origin x="82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10/14/2025 10:55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EE287-16DC-3C22-4DF6-CC33FD4B6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A041A-FD5B-70CD-5C9B-5F82AE57E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9F2B6-4275-8B1C-4FD8-F696338ED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EF4B1C0-668B-A997-8652-DC395ED1E72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CAE0B-CD8A-553C-4133-3FF40629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A21B5-31C5-583C-58B0-8657788463F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26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796925" indent="-227013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+mn-lt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FabricDevCamp/FabricServicePrincipalProfile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1CD5-DA20-C458-B115-0BEEF02A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2E625ED-9B65-9F07-8DD5-AE5480C5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265" y="2766952"/>
            <a:ext cx="10091175" cy="166199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Fabric with Service Principal Profiles</a:t>
            </a:r>
          </a:p>
        </p:txBody>
      </p:sp>
    </p:spTree>
    <p:extLst>
      <p:ext uri="{BB962C8B-B14F-4D97-AF65-F5344CB8AC3E}">
        <p14:creationId xmlns:p14="http://schemas.microsoft.com/office/powerpoint/2010/main" val="321991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BFD9-5A9C-4BC7-BA33-7576BF531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Service Principal Profiles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DB5EB-7103-43F0-831C-528CF0A670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175" y="1227138"/>
            <a:ext cx="11604625" cy="5509200"/>
          </a:xfrm>
        </p:spPr>
        <p:txBody>
          <a:bodyPr/>
          <a:lstStyle/>
          <a:p>
            <a:r>
              <a:rPr lang="en-US" dirty="0"/>
              <a:t>Service principal profiles are created as local accounts in Power BI Service</a:t>
            </a:r>
          </a:p>
          <a:p>
            <a:pPr lvl="1"/>
            <a:r>
              <a:rPr lang="en-US" dirty="0"/>
              <a:t>Profiles API in Power BI REST APIs allows service principal to create service principal profiles</a:t>
            </a:r>
          </a:p>
          <a:p>
            <a:pPr lvl="1"/>
            <a:r>
              <a:rPr lang="en-US" dirty="0"/>
              <a:t>100K limit on how many service principal profiles can be created by a single service principal</a:t>
            </a:r>
          </a:p>
          <a:p>
            <a:pPr lvl="1"/>
            <a:r>
              <a:rPr lang="en-US" dirty="0"/>
              <a:t>Service principal profiles help to scale beyond 1000 workspace membership limit imposed on SPN</a:t>
            </a:r>
          </a:p>
          <a:p>
            <a:pPr lvl="1"/>
            <a:r>
              <a:rPr lang="en-US" dirty="0"/>
              <a:t>Service principal profiles are unknown to Entra ID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Parent-child relationship exists between service principal and the profiles it creates</a:t>
            </a:r>
          </a:p>
          <a:p>
            <a:pPr lvl="1"/>
            <a:r>
              <a:rPr lang="en-US" dirty="0"/>
              <a:t>Service principal profiles are never stand-alone – they're always associated with service principal</a:t>
            </a:r>
          </a:p>
          <a:p>
            <a:pPr lvl="1"/>
            <a:r>
              <a:rPr lang="en-US" dirty="0"/>
              <a:t>Service principal profile can only be seen and used by service principal which created it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7D3E80-3F61-928E-9723-026ADAD5E012}"/>
              </a:ext>
            </a:extLst>
          </p:cNvPr>
          <p:cNvGrpSpPr/>
          <p:nvPr/>
        </p:nvGrpSpPr>
        <p:grpSpPr>
          <a:xfrm>
            <a:off x="1110343" y="3354462"/>
            <a:ext cx="2902857" cy="1888098"/>
            <a:chOff x="1262743" y="2887102"/>
            <a:chExt cx="3233059" cy="21421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2F44D46-8240-4D5B-834C-08C7F7A0F63C}"/>
                </a:ext>
              </a:extLst>
            </p:cNvPr>
            <p:cNvSpPr/>
            <p:nvPr/>
          </p:nvSpPr>
          <p:spPr bwMode="auto">
            <a:xfrm>
              <a:off x="1262743" y="2887102"/>
              <a:ext cx="3233059" cy="2142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DEA67CD-B9BB-4A76-9A2B-199E646F7C38}"/>
                </a:ext>
              </a:extLst>
            </p:cNvPr>
            <p:cNvSpPr/>
            <p:nvPr/>
          </p:nvSpPr>
          <p:spPr bwMode="auto">
            <a:xfrm>
              <a:off x="2644342" y="3025174"/>
              <a:ext cx="1644631" cy="1786314"/>
            </a:xfrm>
            <a:prstGeom prst="rect">
              <a:avLst/>
            </a:prstGeom>
            <a:solidFill>
              <a:srgbClr val="FEFCF0"/>
            </a:solidFill>
            <a:ln w="19050">
              <a:solidFill>
                <a:schemeClr val="tx1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73152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Power BI Service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2EDAFE1A-AB94-480F-8336-A9F18B3B0F28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 flipV="1">
              <a:off x="1976079" y="3519438"/>
              <a:ext cx="1097912" cy="51079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F2BDBB8E-0462-45AC-BC96-C61B500D70B4}"/>
                </a:ext>
              </a:extLst>
            </p:cNvPr>
            <p:cNvCxnSpPr>
              <a:cxnSpLocks/>
              <a:endCxn id="85" idx="1"/>
            </p:cNvCxnSpPr>
            <p:nvPr/>
          </p:nvCxnSpPr>
          <p:spPr>
            <a:xfrm flipV="1">
              <a:off x="1976079" y="3992715"/>
              <a:ext cx="1097912" cy="3751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CFAA2F4-ABFE-41E4-97F4-5403A59E6CA5}"/>
                </a:ext>
              </a:extLst>
            </p:cNvPr>
            <p:cNvCxnSpPr>
              <a:cxnSpLocks/>
            </p:cNvCxnSpPr>
            <p:nvPr/>
          </p:nvCxnSpPr>
          <p:spPr>
            <a:xfrm>
              <a:off x="1982801" y="4030228"/>
              <a:ext cx="1037048" cy="44785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24C8419-4A12-45BD-BCDC-00A85E2187AF}"/>
                </a:ext>
              </a:extLst>
            </p:cNvPr>
            <p:cNvGrpSpPr/>
            <p:nvPr/>
          </p:nvGrpSpPr>
          <p:grpSpPr>
            <a:xfrm>
              <a:off x="1489246" y="3616719"/>
              <a:ext cx="809083" cy="926881"/>
              <a:chOff x="6262373" y="2435914"/>
              <a:chExt cx="848695" cy="97226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75CA730-E2EA-43DF-94A3-B6A87DC93855}"/>
                  </a:ext>
                </a:extLst>
              </p:cNvPr>
              <p:cNvSpPr/>
              <p:nvPr/>
            </p:nvSpPr>
            <p:spPr bwMode="auto">
              <a:xfrm>
                <a:off x="6262373" y="2435914"/>
                <a:ext cx="848695" cy="911804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64008" rIns="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700" b="1" dirty="0">
                    <a:solidFill>
                      <a:schemeClr val="tx1"/>
                    </a:solidFill>
                    <a:latin typeface="Arial Black" panose="020B0A04020102020204" pitchFamily="34" charset="0"/>
                    <a:ea typeface="Segoe UI" pitchFamily="34" charset="0"/>
                    <a:cs typeface="Segoe UI" pitchFamily="34" charset="0"/>
                  </a:rPr>
                  <a:t>Service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700" b="1" dirty="0">
                    <a:solidFill>
                      <a:schemeClr val="tx1"/>
                    </a:solidFill>
                    <a:latin typeface="Arial Black" panose="020B0A04020102020204" pitchFamily="34" charset="0"/>
                    <a:ea typeface="Segoe UI" pitchFamily="34" charset="0"/>
                    <a:cs typeface="Segoe UI" pitchFamily="34" charset="0"/>
                  </a:rPr>
                  <a:t>Principal</a:t>
                </a:r>
              </a:p>
            </p:txBody>
          </p:sp>
          <p:pic>
            <p:nvPicPr>
              <p:cNvPr id="59" name="Graphic 58" descr="User with solid fill">
                <a:extLst>
                  <a:ext uri="{FF2B5EF4-FFF2-40B4-BE49-F238E27FC236}">
                    <a16:creationId xmlns:a16="http://schemas.microsoft.com/office/drawing/2014/main" id="{B352EF67-DC41-49EF-8BB9-C171EB91CC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335212" y="2707150"/>
                <a:ext cx="701023" cy="701024"/>
              </a:xfrm>
              <a:prstGeom prst="rect">
                <a:avLst/>
              </a:prstGeom>
            </p:spPr>
          </p:pic>
        </p:grp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F3053665-D467-4501-AEAF-35D94F30F812}"/>
                </a:ext>
              </a:extLst>
            </p:cNvPr>
            <p:cNvSpPr/>
            <p:nvPr/>
          </p:nvSpPr>
          <p:spPr bwMode="auto">
            <a:xfrm>
              <a:off x="3073991" y="3363352"/>
              <a:ext cx="642020" cy="31217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profile 1</a:t>
              </a: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CFE13712-810A-4D65-9257-393589B0925A}"/>
                </a:ext>
              </a:extLst>
            </p:cNvPr>
            <p:cNvSpPr/>
            <p:nvPr/>
          </p:nvSpPr>
          <p:spPr bwMode="auto">
            <a:xfrm>
              <a:off x="3073991" y="3836629"/>
              <a:ext cx="642020" cy="31217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profile 2</a:t>
              </a: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DB93A6DB-897B-4BF7-B50B-982521AC3F3F}"/>
                </a:ext>
              </a:extLst>
            </p:cNvPr>
            <p:cNvSpPr/>
            <p:nvPr/>
          </p:nvSpPr>
          <p:spPr bwMode="auto">
            <a:xfrm>
              <a:off x="3043383" y="4322000"/>
              <a:ext cx="642020" cy="31217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profile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96358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2036-B029-2761-0F46-DBE350EAB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API Support for Service Principal Profiles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E63AC-97CF-EBC3-D50C-B7EBC4990D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</p:spPr>
        <p:txBody>
          <a:bodyPr/>
          <a:lstStyle/>
          <a:p>
            <a:r>
              <a:rPr lang="en-US" dirty="0"/>
              <a:t>Which APIs support service principal profiles?</a:t>
            </a:r>
          </a:p>
          <a:p>
            <a:pPr lvl="1"/>
            <a:r>
              <a:rPr lang="en-US" dirty="0"/>
              <a:t>Power BI REST API</a:t>
            </a:r>
          </a:p>
          <a:p>
            <a:pPr lvl="1"/>
            <a:r>
              <a:rPr lang="en-US" dirty="0"/>
              <a:t>Tabular Object Model (TOM) through XMLA endpoint</a:t>
            </a:r>
          </a:p>
          <a:p>
            <a:pPr lvl="1"/>
            <a:endParaRPr lang="en-US" dirty="0"/>
          </a:p>
          <a:p>
            <a:r>
              <a:rPr lang="en-US" dirty="0"/>
              <a:t>Which APIs do not support service principal profiles?</a:t>
            </a:r>
          </a:p>
          <a:p>
            <a:pPr lvl="1"/>
            <a:r>
              <a:rPr lang="en-US" dirty="0"/>
              <a:t>Fabric REST APIs</a:t>
            </a:r>
          </a:p>
          <a:p>
            <a:pPr lvl="1"/>
            <a:r>
              <a:rPr lang="en-US" dirty="0"/>
              <a:t>ADLS Gen2 APIs</a:t>
            </a:r>
          </a:p>
          <a:p>
            <a:pPr lvl="1"/>
            <a:r>
              <a:rPr lang="en-US" dirty="0"/>
              <a:t>Any API requiring an Entra Id security principal</a:t>
            </a:r>
          </a:p>
        </p:txBody>
      </p:sp>
    </p:spTree>
    <p:extLst>
      <p:ext uri="{BB962C8B-B14F-4D97-AF65-F5344CB8AC3E}">
        <p14:creationId xmlns:p14="http://schemas.microsoft.com/office/powerpoint/2010/main" val="36481198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68F1-3172-6806-4B25-237CEEE86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FabricServicePrincipalProfile</a:t>
            </a:r>
            <a:r>
              <a:rPr lang="en-US" dirty="0"/>
              <a:t> Sample App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20FA3-0CD9-A266-54CE-5156C2BBFD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754053"/>
          </a:xfrm>
        </p:spPr>
        <p:txBody>
          <a:bodyPr/>
          <a:lstStyle/>
          <a:p>
            <a:r>
              <a:rPr lang="en-US" dirty="0"/>
              <a:t>Available as public repo on GitHub</a:t>
            </a:r>
          </a:p>
          <a:p>
            <a:pPr lvl="1"/>
            <a:r>
              <a:rPr lang="en-US" dirty="0">
                <a:hlinkClick r:id="rId2"/>
              </a:rPr>
              <a:t>https://github.com/FabricDevCamp/FabricServicePrincipalProfile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36761-F136-C4F6-20AA-228FC458E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926" y="2456762"/>
            <a:ext cx="3390673" cy="3216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71BAF8-B9A0-386F-AAB8-D35367DBA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02" y="2456762"/>
            <a:ext cx="3261563" cy="31328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E5988A-9D19-773D-7A1A-76C93D80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460" y="2506747"/>
            <a:ext cx="3473584" cy="19810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448385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580B2-21B2-6BDF-D613-DB1C81CC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Principal Profiles in Classic Power BI Embedding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8B7A06-A11E-C5C0-8A6A-4E80A7651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4" y="1134859"/>
            <a:ext cx="6385237" cy="47248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78A7A5-F750-31A4-2A56-4F930FE55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575" y="2926484"/>
            <a:ext cx="4927385" cy="2929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F350AF-7364-F33D-6394-223F90AD13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400"/>
          <a:stretch>
            <a:fillRect/>
          </a:stretch>
        </p:blipFill>
        <p:spPr>
          <a:xfrm>
            <a:off x="7037575" y="1134860"/>
            <a:ext cx="1957135" cy="14685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75266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9E2F0-4906-A891-231D-7C970A4A2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7012-9454-BE62-AADC-52233EC94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Integrating Service Principal Profiles with Fabric Content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46EC9F-A386-5C0E-7EB4-5B2C7F009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4" y="1093247"/>
            <a:ext cx="5471092" cy="5710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72B8A2-23FE-DEA9-4FB0-90B44E33B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207" y="3341924"/>
            <a:ext cx="5705042" cy="3391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D3F301-81B8-EC63-44B2-5042DFB04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207" y="1093247"/>
            <a:ext cx="2096275" cy="1967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638120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46EBC-37F9-C945-DE38-57A7E27FA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Fabric Items into Power BI Embedding 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FF695-8E6E-9F37-FE55-6E024FD15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416868"/>
          </a:xfrm>
        </p:spPr>
        <p:txBody>
          <a:bodyPr/>
          <a:lstStyle/>
          <a:p>
            <a:r>
              <a:rPr lang="en-US" dirty="0"/>
              <a:t>Opportunities</a:t>
            </a:r>
          </a:p>
          <a:p>
            <a:pPr lvl="1"/>
            <a:r>
              <a:rPr lang="en-US" dirty="0"/>
              <a:t>Leverage any Fabric content in </a:t>
            </a:r>
            <a:r>
              <a:rPr lang="en-US" dirty="0" err="1"/>
              <a:t>PBIE</a:t>
            </a:r>
            <a:r>
              <a:rPr lang="en-US" dirty="0"/>
              <a:t> solution that can be surfaces through Power BI report</a:t>
            </a:r>
          </a:p>
          <a:p>
            <a:pPr lvl="1"/>
            <a:r>
              <a:rPr lang="en-US" dirty="0"/>
              <a:t>Power BI embedding supports connecting with </a:t>
            </a:r>
            <a:r>
              <a:rPr lang="en-US" sz="1800" b="1" dirty="0"/>
              <a:t>Direct Lake on SQL</a:t>
            </a:r>
            <a:r>
              <a:rPr lang="en-US" dirty="0"/>
              <a:t> and </a:t>
            </a:r>
            <a:r>
              <a:rPr lang="en-US" sz="1800" b="1" dirty="0"/>
              <a:t>DirectLake on </a:t>
            </a:r>
            <a:r>
              <a:rPr lang="en-US" sz="1800" b="1" dirty="0" err="1"/>
              <a:t>Onelake</a:t>
            </a:r>
            <a:endParaRPr lang="en-US" b="1" dirty="0"/>
          </a:p>
          <a:p>
            <a:pPr lvl="1"/>
            <a:r>
              <a:rPr lang="en-US" dirty="0"/>
              <a:t>Move away from deployment and CI-CD with </a:t>
            </a:r>
            <a:r>
              <a:rPr lang="en-US" dirty="0" err="1"/>
              <a:t>PBIX</a:t>
            </a:r>
            <a:r>
              <a:rPr lang="en-US" dirty="0"/>
              <a:t> and embrace benefits of TMDL and PBIR</a:t>
            </a:r>
          </a:p>
          <a:p>
            <a:pPr lvl="1"/>
            <a:r>
              <a:rPr lang="en-US" dirty="0"/>
              <a:t>Take advantage of Fabric support for CI-CD using GIT integration</a:t>
            </a:r>
          </a:p>
          <a:p>
            <a:pPr>
              <a:spcBef>
                <a:spcPts val="1800"/>
              </a:spcBef>
            </a:pPr>
            <a:r>
              <a:rPr lang="en-US" dirty="0"/>
              <a:t>Challenges</a:t>
            </a:r>
          </a:p>
          <a:p>
            <a:pPr lvl="1"/>
            <a:r>
              <a:rPr lang="en-US" dirty="0" err="1"/>
              <a:t>SPNs</a:t>
            </a:r>
            <a:r>
              <a:rPr lang="en-US" dirty="0"/>
              <a:t> are require to create and manage most types of Fabric workspace items</a:t>
            </a:r>
          </a:p>
          <a:p>
            <a:pPr lvl="1"/>
            <a:r>
              <a:rPr lang="en-US" dirty="0" err="1"/>
              <a:t>SPNs</a:t>
            </a:r>
            <a:r>
              <a:rPr lang="en-US" dirty="0"/>
              <a:t> are required to create shared cloud connections (SCC)</a:t>
            </a:r>
          </a:p>
          <a:p>
            <a:pPr lvl="1"/>
            <a:r>
              <a:rPr lang="en-US" dirty="0"/>
              <a:t>Scaling multitenant environment requires more </a:t>
            </a:r>
            <a:r>
              <a:rPr lang="en-US" dirty="0" err="1"/>
              <a:t>SPNs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Questions</a:t>
            </a:r>
          </a:p>
          <a:p>
            <a:pPr lvl="1"/>
            <a:r>
              <a:rPr lang="en-US" dirty="0"/>
              <a:t>How many </a:t>
            </a:r>
            <a:r>
              <a:rPr lang="en-US" dirty="0" err="1"/>
              <a:t>SPNs</a:t>
            </a:r>
            <a:r>
              <a:rPr lang="en-US" dirty="0"/>
              <a:t> are required to create and manage a specific number of workspaces?</a:t>
            </a:r>
          </a:p>
          <a:p>
            <a:pPr lvl="1"/>
            <a:r>
              <a:rPr lang="en-US" dirty="0"/>
              <a:t>Are </a:t>
            </a:r>
            <a:r>
              <a:rPr lang="en-US" dirty="0" err="1"/>
              <a:t>SPPs</a:t>
            </a:r>
            <a:r>
              <a:rPr lang="en-US" dirty="0"/>
              <a:t> still effective at providing isolation if it is just during consumption but not provisioning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3747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BF9000"/>
      </a:accent2>
      <a:accent3>
        <a:srgbClr val="87CBFF"/>
      </a:accent3>
      <a:accent4>
        <a:srgbClr val="2F75FF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schemas.microsoft.com/sharepoint/v3"/>
    <ds:schemaRef ds:uri="http://purl.org/dc/terms/"/>
    <ds:schemaRef ds:uri="http://schemas.microsoft.com/office/2006/metadata/properties"/>
    <ds:schemaRef ds:uri="3c10a0e8-556e-4c2d-9121-1181542ea83c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91f22b01-9196-48cc-8d58-ee179122dd7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2411704-DA91-4A2A-81D1-00044852D0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c10a0e8-556e-4c2d-9121-1181542ea83c"/>
    <ds:schemaRef ds:uri="91f22b01-9196-48cc-8d58-ee179122dd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74e257c-5848-4582-9a6f-34a182080e71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23237</TotalTime>
  <Words>335</Words>
  <Application>Microsoft Office PowerPoint</Application>
  <PresentationFormat>Custom</PresentationFormat>
  <Paragraphs>51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Lucida Console</vt:lpstr>
      <vt:lpstr>Segoe UI</vt:lpstr>
      <vt:lpstr>Segoe UI Light</vt:lpstr>
      <vt:lpstr>Segoe UI Semibold</vt:lpstr>
      <vt:lpstr>Wingdings</vt:lpstr>
      <vt:lpstr>Fabric Theme</vt:lpstr>
      <vt:lpstr>Fabric with Service Principal Profiles</vt:lpstr>
      <vt:lpstr>Service Principal Profiles</vt:lpstr>
      <vt:lpstr>API Support for Service Principal Profiles</vt:lpstr>
      <vt:lpstr>FabricServicePrincipalProfile Sample App</vt:lpstr>
      <vt:lpstr>Service Principal Profiles in Classic Power BI Embedding</vt:lpstr>
      <vt:lpstr>Integrating Service Principal Profiles with Fabric Content</vt:lpstr>
      <vt:lpstr>Integrating Fabric Items into Power BI Embedding Projects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106</cp:revision>
  <cp:lastPrinted>2019-05-02T20:11:39Z</cp:lastPrinted>
  <dcterms:created xsi:type="dcterms:W3CDTF">2018-09-21T01:16:59Z</dcterms:created>
  <dcterms:modified xsi:type="dcterms:W3CDTF">2025-10-14T16:34:26Z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